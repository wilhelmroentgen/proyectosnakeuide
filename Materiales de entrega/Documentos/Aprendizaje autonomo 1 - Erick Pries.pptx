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310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</p:sldIdLst>
  <p:sldSz cx="12188825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29" autoAdjust="0"/>
  </p:normalViewPr>
  <p:slideViewPr>
    <p:cSldViewPr showGuides="1">
      <p:cViewPr varScale="1">
        <p:scale>
          <a:sx n="159" d="100"/>
          <a:sy n="159" d="100"/>
        </p:scale>
        <p:origin x="384" y="13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5/31/2026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5/31/2026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5/31/2026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5/31/2026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5/31/2026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5/31/2026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5/31/2026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5/31/2026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5/31/2026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5/31/2026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5/31/2026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5/31/2026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C" noProof="0" dirty="0"/>
              <a:t>Juego de la Serpiente</a:t>
            </a:r>
            <a:br>
              <a:rPr lang="es-EC" noProof="0" dirty="0"/>
            </a:br>
            <a:r>
              <a:rPr lang="es-EC" noProof="0" dirty="0"/>
              <a:t>Diseño funcional y arquitectura de software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 noProof="0" dirty="0"/>
              <a:t>Aprendizaje autónomo 1</a:t>
            </a:r>
          </a:p>
          <a:p>
            <a:endParaRPr lang="es-EC" noProof="0" dirty="0"/>
          </a:p>
          <a:p>
            <a:r>
              <a:rPr lang="es-EC" dirty="0"/>
              <a:t>Erick Pries</a:t>
            </a:r>
          </a:p>
          <a:p>
            <a:r>
              <a:rPr lang="es-EC" noProof="0" dirty="0"/>
              <a:t>Ingeniería en ciberseguridad</a:t>
            </a:r>
          </a:p>
          <a:p>
            <a:r>
              <a:rPr lang="es-EC" dirty="0"/>
              <a:t>Lógica de programación 1</a:t>
            </a:r>
          </a:p>
          <a:p>
            <a:r>
              <a:rPr lang="es-EC" noProof="0" dirty="0" err="1"/>
              <a:t>Mgs</a:t>
            </a:r>
            <a:r>
              <a:rPr lang="es-EC" noProof="0" dirty="0"/>
              <a:t>. Mónica patricia Salazar tapia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8FED4-18B3-40B1-7697-0E3063061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641" y="685800"/>
            <a:ext cx="2379980" cy="144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noProof="0" dirty="0"/>
              <a:t>Problema seleccionado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C" noProof="0" dirty="0"/>
              <a:t>Programa escogido:</a:t>
            </a:r>
            <a:r>
              <a:rPr lang="es-EC" dirty="0"/>
              <a:t> Juego de la Serpiente</a:t>
            </a:r>
          </a:p>
          <a:p>
            <a:pPr marL="0" indent="0">
              <a:buNone/>
            </a:pPr>
            <a:r>
              <a:rPr lang="es-EC" noProof="0" dirty="0"/>
              <a:t>Objetivo</a:t>
            </a:r>
            <a:r>
              <a:rPr lang="es-EC" dirty="0"/>
              <a:t>: Controlar una serpiente para comer alimentos y aumentar el puntaje evitando colisiones.</a:t>
            </a:r>
          </a:p>
          <a:p>
            <a:pPr marL="0" indent="0">
              <a:buNone/>
            </a:pPr>
            <a:r>
              <a:rPr lang="es-EC" noProof="0" dirty="0"/>
              <a:t>¿Por qué se seleccionó?</a:t>
            </a:r>
          </a:p>
          <a:p>
            <a:r>
              <a:rPr lang="es-EC" dirty="0"/>
              <a:t>Fácil de comprender</a:t>
            </a:r>
          </a:p>
          <a:p>
            <a:r>
              <a:rPr lang="es-EC" noProof="0" dirty="0"/>
              <a:t>Permite aplicar lógica de programación</a:t>
            </a:r>
          </a:p>
          <a:p>
            <a:r>
              <a:rPr lang="es-EC" dirty="0"/>
              <a:t>Utiliza estructuras de control</a:t>
            </a:r>
          </a:p>
          <a:p>
            <a:r>
              <a:rPr lang="es-EC" dirty="0"/>
              <a:t>Manejo de eventos</a:t>
            </a:r>
          </a:p>
          <a:p>
            <a:r>
              <a:rPr lang="es-EC" dirty="0"/>
              <a:t>Detección de colisiones</a:t>
            </a:r>
          </a:p>
          <a:p>
            <a:r>
              <a:rPr lang="es-EC" dirty="0"/>
              <a:t>Arquitectura modular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1616-5430-3FBC-4B6A-24347D6E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1ED2143-2BD7-50DB-1E60-217F4938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noProof="0" dirty="0"/>
              <a:t>Investigación realizada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0EB8DC4-4714-4D04-E0B7-6CB8A0472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866899"/>
            <a:ext cx="4343399" cy="26670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C" noProof="0" dirty="0"/>
              <a:t>Diagramas funcionales investigados</a:t>
            </a:r>
          </a:p>
          <a:p>
            <a:r>
              <a:rPr lang="es-EC" dirty="0"/>
              <a:t>Casos de uso</a:t>
            </a:r>
          </a:p>
          <a:p>
            <a:r>
              <a:rPr lang="es-EC" dirty="0"/>
              <a:t>Diagramas de flujo</a:t>
            </a:r>
          </a:p>
          <a:p>
            <a:r>
              <a:rPr lang="es-EC" dirty="0"/>
              <a:t>Diagramas de actividades</a:t>
            </a:r>
          </a:p>
          <a:p>
            <a:r>
              <a:rPr lang="es-EC" dirty="0"/>
              <a:t>Diagramas de estados</a:t>
            </a:r>
          </a:p>
          <a:p>
            <a:r>
              <a:rPr lang="es-EC" dirty="0"/>
              <a:t>Diagramas de secuencia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E3CAAC98-0D98-4688-059D-DA3FE3798229}"/>
              </a:ext>
            </a:extLst>
          </p:cNvPr>
          <p:cNvSpPr txBox="1">
            <a:spLocks/>
          </p:cNvSpPr>
          <p:nvPr/>
        </p:nvSpPr>
        <p:spPr>
          <a:xfrm>
            <a:off x="6246812" y="1866898"/>
            <a:ext cx="4724400" cy="26670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EC" dirty="0"/>
              <a:t>Diagramas de arquitectura investigados</a:t>
            </a:r>
          </a:p>
          <a:p>
            <a:r>
              <a:rPr lang="es-EC" dirty="0"/>
              <a:t>Componentes</a:t>
            </a:r>
          </a:p>
          <a:p>
            <a:r>
              <a:rPr lang="es-EC" dirty="0"/>
              <a:t>Capas</a:t>
            </a:r>
          </a:p>
          <a:p>
            <a:r>
              <a:rPr lang="es-EC" dirty="0"/>
              <a:t>Modelo C4</a:t>
            </a:r>
          </a:p>
          <a:p>
            <a:r>
              <a:rPr lang="es-EC" dirty="0"/>
              <a:t>Despliegue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C6B4D141-00D9-EB1B-C942-284FE889643A}"/>
              </a:ext>
            </a:extLst>
          </p:cNvPr>
          <p:cNvSpPr txBox="1">
            <a:spLocks/>
          </p:cNvSpPr>
          <p:nvPr/>
        </p:nvSpPr>
        <p:spPr>
          <a:xfrm>
            <a:off x="452019" y="4775534"/>
            <a:ext cx="2971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s-EC" dirty="0"/>
          </a:p>
          <a:p>
            <a:r>
              <a:rPr lang="es-EC" sz="2200" dirty="0"/>
              <a:t>Casos de uso</a:t>
            </a:r>
          </a:p>
          <a:p>
            <a:r>
              <a:rPr lang="es-EC" sz="2200" dirty="0"/>
              <a:t>Flujo funcional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991BD92E-8CDE-F3FB-2CF2-B5C3A842887A}"/>
              </a:ext>
            </a:extLst>
          </p:cNvPr>
          <p:cNvSpPr txBox="1">
            <a:spLocks/>
          </p:cNvSpPr>
          <p:nvPr/>
        </p:nvSpPr>
        <p:spPr>
          <a:xfrm>
            <a:off x="3313111" y="5307931"/>
            <a:ext cx="2971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200" dirty="0"/>
              <a:t>Arquitectura por componentes</a:t>
            </a:r>
          </a:p>
          <a:p>
            <a:r>
              <a:rPr lang="es-EC" sz="2200" dirty="0"/>
              <a:t>Arquitectura por capas</a:t>
            </a:r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0A994615-1BBC-F210-8DAD-2E57D94FF0D8}"/>
              </a:ext>
            </a:extLst>
          </p:cNvPr>
          <p:cNvSpPr txBox="1">
            <a:spLocks/>
          </p:cNvSpPr>
          <p:nvPr/>
        </p:nvSpPr>
        <p:spPr>
          <a:xfrm>
            <a:off x="455612" y="4800600"/>
            <a:ext cx="2971800" cy="851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EC" sz="2200" dirty="0"/>
              <a:t>Diagramas elegidos</a:t>
            </a:r>
          </a:p>
        </p:txBody>
      </p:sp>
    </p:spTree>
    <p:extLst>
      <p:ext uri="{BB962C8B-B14F-4D97-AF65-F5344CB8AC3E}">
        <p14:creationId xmlns:p14="http://schemas.microsoft.com/office/powerpoint/2010/main" val="305895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92052-64A7-F9C8-E598-4B29427BC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FFB421C-1E9D-A506-3BA7-C284C638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noProof="0" dirty="0"/>
              <a:t>Análisis del problema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095DD71-752D-66E1-C68D-C011A1ACB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3" y="1905000"/>
            <a:ext cx="5181600" cy="4114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noProof="0" dirty="0"/>
              <a:t>La serpiente debe:</a:t>
            </a:r>
          </a:p>
          <a:p>
            <a:r>
              <a:rPr lang="es-EC" dirty="0"/>
              <a:t>Moverse continuamente</a:t>
            </a:r>
          </a:p>
          <a:p>
            <a:r>
              <a:rPr lang="es-EC" dirty="0"/>
              <a:t>Responder a entradas del usuario</a:t>
            </a:r>
          </a:p>
          <a:p>
            <a:r>
              <a:rPr lang="es-EC" dirty="0"/>
              <a:t>Comer comida aleatoria</a:t>
            </a:r>
          </a:p>
          <a:p>
            <a:r>
              <a:rPr lang="es-EC" dirty="0"/>
              <a:t>Crecer progresivamente</a:t>
            </a:r>
          </a:p>
          <a:p>
            <a:r>
              <a:rPr lang="es-EC" dirty="0"/>
              <a:t>Mantener un puntaje</a:t>
            </a:r>
          </a:p>
          <a:p>
            <a:r>
              <a:rPr lang="es-EC" dirty="0"/>
              <a:t>Detectar colisiones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15B10F01-C81C-D93C-CC51-566C824963FC}"/>
              </a:ext>
            </a:extLst>
          </p:cNvPr>
          <p:cNvSpPr txBox="1">
            <a:spLocks/>
          </p:cNvSpPr>
          <p:nvPr/>
        </p:nvSpPr>
        <p:spPr>
          <a:xfrm>
            <a:off x="5713413" y="1905000"/>
            <a:ext cx="5562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EC" dirty="0"/>
              <a:t>Reglas principales: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dirty="0"/>
              <a:t>Comer aumenta puntaje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dirty="0"/>
              <a:t>Comer aumenta tamaño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dirty="0"/>
              <a:t>Colisión termina la partida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dirty="0"/>
              <a:t>El usuario puede reiniciar</a:t>
            </a:r>
          </a:p>
        </p:txBody>
      </p:sp>
    </p:spTree>
    <p:extLst>
      <p:ext uri="{BB962C8B-B14F-4D97-AF65-F5344CB8AC3E}">
        <p14:creationId xmlns:p14="http://schemas.microsoft.com/office/powerpoint/2010/main" val="2945787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325C-66BC-31BE-C211-4E334C69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57815E4-1B76-E46D-F57B-7B76A30D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noProof="0" dirty="0"/>
              <a:t>Funcionalidades del sistema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2C96D1E-B99B-59F9-1AF8-112E95F57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3" y="1905000"/>
            <a:ext cx="5181600" cy="4114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noProof="0" dirty="0"/>
              <a:t>Funciones principales</a:t>
            </a:r>
          </a:p>
          <a:p>
            <a:r>
              <a:rPr lang="es-EC" dirty="0"/>
              <a:t>Iniciar partida</a:t>
            </a:r>
          </a:p>
          <a:p>
            <a:r>
              <a:rPr lang="es-EC" dirty="0"/>
              <a:t>Controlar dirección</a:t>
            </a:r>
          </a:p>
          <a:p>
            <a:r>
              <a:rPr lang="es-EC" dirty="0"/>
              <a:t>Mover serpiente</a:t>
            </a:r>
          </a:p>
          <a:p>
            <a:r>
              <a:rPr lang="es-EC" dirty="0"/>
              <a:t>Generar comida</a:t>
            </a:r>
          </a:p>
          <a:p>
            <a:r>
              <a:rPr lang="es-EC" dirty="0"/>
              <a:t>Detectar comida</a:t>
            </a:r>
          </a:p>
          <a:p>
            <a:r>
              <a:rPr lang="es-EC" dirty="0"/>
              <a:t>Aumentar tamaño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44C2B181-DBA9-204F-2EDF-24B942C87900}"/>
              </a:ext>
            </a:extLst>
          </p:cNvPr>
          <p:cNvSpPr txBox="1">
            <a:spLocks/>
          </p:cNvSpPr>
          <p:nvPr/>
        </p:nvSpPr>
        <p:spPr>
          <a:xfrm>
            <a:off x="5103812" y="2514600"/>
            <a:ext cx="5181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dirty="0"/>
              <a:t>Actualizar puntaje</a:t>
            </a:r>
          </a:p>
          <a:p>
            <a:r>
              <a:rPr lang="es-EC" dirty="0"/>
              <a:t>Detectar colisiones</a:t>
            </a:r>
          </a:p>
          <a:p>
            <a:r>
              <a:rPr lang="es-EC" dirty="0"/>
              <a:t>Finalizar partida</a:t>
            </a:r>
          </a:p>
          <a:p>
            <a:r>
              <a:rPr lang="es-EC" dirty="0"/>
              <a:t>Reiniciar partida</a:t>
            </a:r>
          </a:p>
        </p:txBody>
      </p:sp>
    </p:spTree>
    <p:extLst>
      <p:ext uri="{BB962C8B-B14F-4D97-AF65-F5344CB8AC3E}">
        <p14:creationId xmlns:p14="http://schemas.microsoft.com/office/powerpoint/2010/main" val="308928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3357D-E5D2-C3C8-C2DC-B3EC69BD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D2110EE-1E73-C30D-2CB6-1E1DC233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159822"/>
            <a:ext cx="9144001" cy="609600"/>
          </a:xfrm>
        </p:spPr>
        <p:txBody>
          <a:bodyPr/>
          <a:lstStyle/>
          <a:p>
            <a:r>
              <a:rPr lang="es-EC" noProof="0" dirty="0"/>
              <a:t>Diagrama funcional de casos de uso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4ECA6-D56A-416B-FB88-0FF8FC2A59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9" y="1295400"/>
            <a:ext cx="12188825" cy="479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8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B2EED-9FEB-83F8-9496-6F2877ED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1DC1694-01DC-3E20-42E0-F70CCF03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159822"/>
            <a:ext cx="9144001" cy="609600"/>
          </a:xfrm>
        </p:spPr>
        <p:txBody>
          <a:bodyPr/>
          <a:lstStyle/>
          <a:p>
            <a:r>
              <a:rPr lang="es-EC" noProof="0" dirty="0"/>
              <a:t>Diagrama de flujo funcional</a:t>
            </a: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0E3740A0-5E2A-82A0-D42D-E1EFE86EAE80}"/>
              </a:ext>
            </a:extLst>
          </p:cNvPr>
          <p:cNvSpPr/>
          <p:nvPr/>
        </p:nvSpPr>
        <p:spPr>
          <a:xfrm>
            <a:off x="303212" y="1143703"/>
            <a:ext cx="1524000" cy="381000"/>
          </a:xfrm>
          <a:prstGeom prst="flowChartTermina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Inicio del programa</a:t>
            </a:r>
            <a:endParaRPr lang="en-US" sz="1100" dirty="0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6F4FADFC-26C1-8C9E-8227-AE9805C20196}"/>
              </a:ext>
            </a:extLst>
          </p:cNvPr>
          <p:cNvSpPr/>
          <p:nvPr/>
        </p:nvSpPr>
        <p:spPr>
          <a:xfrm>
            <a:off x="2132012" y="1143703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Mostrar pantalla inicial</a:t>
            </a:r>
            <a:endParaRPr lang="en-US" sz="1100" dirty="0"/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805ACB74-948B-6286-9B76-D53DC99785F2}"/>
              </a:ext>
            </a:extLst>
          </p:cNvPr>
          <p:cNvSpPr/>
          <p:nvPr/>
        </p:nvSpPr>
        <p:spPr>
          <a:xfrm>
            <a:off x="4037012" y="838903"/>
            <a:ext cx="1447800" cy="990600"/>
          </a:xfrm>
          <a:prstGeom prst="flowChartDecisi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¿Jugador inicia partida?</a:t>
            </a:r>
            <a:endParaRPr lang="en-US" sz="1100" dirty="0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A5C2E2B4-5F42-5C3C-1C7E-A013B0653749}"/>
              </a:ext>
            </a:extLst>
          </p:cNvPr>
          <p:cNvSpPr/>
          <p:nvPr/>
        </p:nvSpPr>
        <p:spPr>
          <a:xfrm>
            <a:off x="303212" y="22098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Crear serpiente inicial</a:t>
            </a:r>
            <a:endParaRPr lang="en-US" sz="1100" dirty="0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24F7E5E0-7377-1800-3E67-50B3ADE4433B}"/>
              </a:ext>
            </a:extLst>
          </p:cNvPr>
          <p:cNvSpPr/>
          <p:nvPr/>
        </p:nvSpPr>
        <p:spPr>
          <a:xfrm>
            <a:off x="2055812" y="22098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Establecer puntaje en cero</a:t>
            </a:r>
            <a:endParaRPr lang="en-US" sz="1100" dirty="0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B2070B12-83DF-CBCE-1B66-F929E9CD4D66}"/>
              </a:ext>
            </a:extLst>
          </p:cNvPr>
          <p:cNvSpPr/>
          <p:nvPr/>
        </p:nvSpPr>
        <p:spPr>
          <a:xfrm>
            <a:off x="3808412" y="22098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Generar comida aleatoria</a:t>
            </a:r>
            <a:endParaRPr lang="en-US" sz="1100" dirty="0"/>
          </a:p>
        </p:txBody>
      </p:sp>
      <p:sp>
        <p:nvSpPr>
          <p:cNvPr id="17" name="Flowchart: Predefined Process 16">
            <a:extLst>
              <a:ext uri="{FF2B5EF4-FFF2-40B4-BE49-F238E27FC236}">
                <a16:creationId xmlns:a16="http://schemas.microsoft.com/office/drawing/2014/main" id="{8FDFC858-DC20-308D-AF19-A5F08C5887F0}"/>
              </a:ext>
            </a:extLst>
          </p:cNvPr>
          <p:cNvSpPr/>
          <p:nvPr/>
        </p:nvSpPr>
        <p:spPr>
          <a:xfrm>
            <a:off x="5561012" y="2091971"/>
            <a:ext cx="1219200" cy="612648"/>
          </a:xfrm>
          <a:prstGeom prst="flowChartPredefinedProcess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Iniciar ciclo principal del juego</a:t>
            </a:r>
            <a:endParaRPr lang="en-US" sz="1100" dirty="0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47D77888-CA41-26DD-E7AF-50ABABB96B9D}"/>
              </a:ext>
            </a:extLst>
          </p:cNvPr>
          <p:cNvSpPr/>
          <p:nvPr/>
        </p:nvSpPr>
        <p:spPr>
          <a:xfrm>
            <a:off x="7008812" y="2207795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Leer entrada del teclado</a:t>
            </a:r>
            <a:endParaRPr lang="en-US" sz="1100" dirty="0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7C368D4F-9EF9-68DA-5135-2A95B6E2192E}"/>
              </a:ext>
            </a:extLst>
          </p:cNvPr>
          <p:cNvSpPr/>
          <p:nvPr/>
        </p:nvSpPr>
        <p:spPr>
          <a:xfrm>
            <a:off x="8761412" y="22098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Actualizar dirección</a:t>
            </a:r>
            <a:endParaRPr lang="en-US" sz="1100" dirty="0"/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E2598D92-5249-7FB4-D182-613BFC7EF3FB}"/>
              </a:ext>
            </a:extLst>
          </p:cNvPr>
          <p:cNvSpPr/>
          <p:nvPr/>
        </p:nvSpPr>
        <p:spPr>
          <a:xfrm>
            <a:off x="10514012" y="22098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Mover serpiente</a:t>
            </a:r>
            <a:endParaRPr lang="en-US" sz="1100" dirty="0"/>
          </a:p>
        </p:txBody>
      </p: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C1B89132-A22E-E7C0-6F55-FECFAC282E30}"/>
              </a:ext>
            </a:extLst>
          </p:cNvPr>
          <p:cNvSpPr/>
          <p:nvPr/>
        </p:nvSpPr>
        <p:spPr>
          <a:xfrm>
            <a:off x="10552112" y="3124200"/>
            <a:ext cx="1447800" cy="990600"/>
          </a:xfrm>
          <a:prstGeom prst="flowChartDecisi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¿Comió comida?</a:t>
            </a:r>
            <a:endParaRPr lang="en-US" sz="1100" dirty="0"/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C702C240-3B04-C49D-A8D1-509A5A45F869}"/>
              </a:ext>
            </a:extLst>
          </p:cNvPr>
          <p:cNvSpPr/>
          <p:nvPr/>
        </p:nvSpPr>
        <p:spPr>
          <a:xfrm>
            <a:off x="8761412" y="34290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Aumentar tamaño</a:t>
            </a:r>
            <a:endParaRPr lang="en-US" sz="1100" dirty="0"/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B11878B3-62DC-A0F6-B63E-27BB29AA2963}"/>
              </a:ext>
            </a:extLst>
          </p:cNvPr>
          <p:cNvSpPr/>
          <p:nvPr/>
        </p:nvSpPr>
        <p:spPr>
          <a:xfrm>
            <a:off x="7008812" y="34290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Actualizar puntaje</a:t>
            </a:r>
            <a:endParaRPr lang="en-US" sz="1100" dirty="0"/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FABF289C-C3F3-D540-5EFC-788739F17A20}"/>
              </a:ext>
            </a:extLst>
          </p:cNvPr>
          <p:cNvSpPr/>
          <p:nvPr/>
        </p:nvSpPr>
        <p:spPr>
          <a:xfrm>
            <a:off x="5256212" y="34290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Generar nueva comida</a:t>
            </a:r>
            <a:endParaRPr lang="en-US" sz="1100" dirty="0"/>
          </a:p>
        </p:txBody>
      </p:sp>
      <p:sp>
        <p:nvSpPr>
          <p:cNvPr id="25" name="Flowchart: Decision 24">
            <a:extLst>
              <a:ext uri="{FF2B5EF4-FFF2-40B4-BE49-F238E27FC236}">
                <a16:creationId xmlns:a16="http://schemas.microsoft.com/office/drawing/2014/main" id="{F4DC2571-4ABA-543E-D5DF-CDD79C87FB60}"/>
              </a:ext>
            </a:extLst>
          </p:cNvPr>
          <p:cNvSpPr/>
          <p:nvPr/>
        </p:nvSpPr>
        <p:spPr>
          <a:xfrm>
            <a:off x="3544135" y="3124200"/>
            <a:ext cx="1447800" cy="990600"/>
          </a:xfrm>
          <a:prstGeom prst="flowChartDecisi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¿Existe colisión?</a:t>
            </a:r>
            <a:endParaRPr lang="en-US" sz="1100" dirty="0"/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19AC3E67-E758-636B-C6AF-1DF7D4A21D2A}"/>
              </a:ext>
            </a:extLst>
          </p:cNvPr>
          <p:cNvSpPr/>
          <p:nvPr/>
        </p:nvSpPr>
        <p:spPr>
          <a:xfrm>
            <a:off x="3506035" y="45720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Detener movimiento</a:t>
            </a:r>
            <a:endParaRPr lang="en-US" sz="1100" dirty="0"/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31E8C404-181B-B7F3-AC6B-E3A063A43B10}"/>
              </a:ext>
            </a:extLst>
          </p:cNvPr>
          <p:cNvSpPr/>
          <p:nvPr/>
        </p:nvSpPr>
        <p:spPr>
          <a:xfrm>
            <a:off x="5256212" y="45720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Mostrar </a:t>
            </a:r>
            <a:r>
              <a:rPr lang="es-EC" sz="1100" dirty="0" err="1"/>
              <a:t>Game</a:t>
            </a:r>
            <a:r>
              <a:rPr lang="es-EC" sz="1100" dirty="0"/>
              <a:t> Over</a:t>
            </a:r>
            <a:endParaRPr lang="en-US" sz="1100" dirty="0"/>
          </a:p>
        </p:txBody>
      </p:sp>
      <p:sp>
        <p:nvSpPr>
          <p:cNvPr id="28" name="Flowchart: Process 27">
            <a:extLst>
              <a:ext uri="{FF2B5EF4-FFF2-40B4-BE49-F238E27FC236}">
                <a16:creationId xmlns:a16="http://schemas.microsoft.com/office/drawing/2014/main" id="{B85F889A-AAD5-EF0C-3F74-EEAAB388D71D}"/>
              </a:ext>
            </a:extLst>
          </p:cNvPr>
          <p:cNvSpPr/>
          <p:nvPr/>
        </p:nvSpPr>
        <p:spPr>
          <a:xfrm>
            <a:off x="7006389" y="4572000"/>
            <a:ext cx="1524000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Mostrar puntaje final</a:t>
            </a:r>
            <a:endParaRPr lang="en-US" sz="1100" dirty="0"/>
          </a:p>
        </p:txBody>
      </p:sp>
      <p:sp>
        <p:nvSpPr>
          <p:cNvPr id="29" name="Flowchart: Decision 28">
            <a:extLst>
              <a:ext uri="{FF2B5EF4-FFF2-40B4-BE49-F238E27FC236}">
                <a16:creationId xmlns:a16="http://schemas.microsoft.com/office/drawing/2014/main" id="{86525869-7414-61E2-EEDD-58397031CC45}"/>
              </a:ext>
            </a:extLst>
          </p:cNvPr>
          <p:cNvSpPr/>
          <p:nvPr/>
        </p:nvSpPr>
        <p:spPr>
          <a:xfrm>
            <a:off x="7044489" y="5410200"/>
            <a:ext cx="1447800" cy="990600"/>
          </a:xfrm>
          <a:prstGeom prst="flowChartDecisi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¿Desea reiniciar?</a:t>
            </a:r>
            <a:endParaRPr lang="en-US" sz="1100" dirty="0"/>
          </a:p>
        </p:txBody>
      </p: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id="{69D52416-5B02-860A-533F-B472633E956F}"/>
              </a:ext>
            </a:extLst>
          </p:cNvPr>
          <p:cNvSpPr/>
          <p:nvPr/>
        </p:nvSpPr>
        <p:spPr>
          <a:xfrm>
            <a:off x="9142412" y="5715000"/>
            <a:ext cx="1524000" cy="381000"/>
          </a:xfrm>
          <a:prstGeom prst="flowChartTermina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100" dirty="0"/>
              <a:t>Fin del programa</a:t>
            </a:r>
            <a:endParaRPr lang="en-US" sz="11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70B4693-B92C-BD49-535A-7A79F104B62E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1827212" y="1334203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CBFDF0F-F2CD-A04C-533D-10B77359A34E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3656012" y="1334203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1552C672-DB80-85BC-6E41-377FD8BB2195}"/>
              </a:ext>
            </a:extLst>
          </p:cNvPr>
          <p:cNvCxnSpPr>
            <a:stCxn id="12" idx="2"/>
          </p:cNvCxnSpPr>
          <p:nvPr/>
        </p:nvCxnSpPr>
        <p:spPr>
          <a:xfrm rot="5400000" flipH="1">
            <a:off x="4056062" y="1124653"/>
            <a:ext cx="304800" cy="1104900"/>
          </a:xfrm>
          <a:prstGeom prst="curvedConnector4">
            <a:avLst>
              <a:gd name="adj1" fmla="val -75000"/>
              <a:gd name="adj2" fmla="val 82759"/>
            </a:avLst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4D227358-A444-EAAD-99EF-6BCA73864A4F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 flipH="1">
            <a:off x="1065212" y="1334203"/>
            <a:ext cx="4419600" cy="875597"/>
          </a:xfrm>
          <a:prstGeom prst="curvedConnector4">
            <a:avLst>
              <a:gd name="adj1" fmla="val -952"/>
              <a:gd name="adj2" fmla="val 9133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A2F7E7E-F618-A2D4-7FA1-075A4D50C58A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1827212" y="240030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F69519-1FCD-E343-18FC-89C41CDFB3FB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3579812" y="240030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B8E55AE-FD61-3A0F-DB54-4F863B9FDD39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5332412" y="2398295"/>
            <a:ext cx="228600" cy="2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BB57415-EB4B-C6B6-7174-8F130FB4DD62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6780212" y="2398295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38D92BD-1513-DF4E-076F-A4E95FEFDB2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532812" y="2398295"/>
            <a:ext cx="228600" cy="2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6BF003E-F80E-36D2-C031-206E3E146CCC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10285412" y="240030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632AFB5-36F4-66B7-7755-5771DEB44B1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11276012" y="259080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E3291477-3664-6ABD-08EB-A658EFB6D725}"/>
              </a:ext>
            </a:extLst>
          </p:cNvPr>
          <p:cNvCxnSpPr>
            <a:cxnSpLocks/>
            <a:stCxn id="21" idx="1"/>
            <a:endCxn id="25" idx="0"/>
          </p:cNvCxnSpPr>
          <p:nvPr/>
        </p:nvCxnSpPr>
        <p:spPr>
          <a:xfrm rot="10800000">
            <a:off x="4268036" y="3124200"/>
            <a:ext cx="6284077" cy="495300"/>
          </a:xfrm>
          <a:prstGeom prst="curvedConnector4">
            <a:avLst>
              <a:gd name="adj1" fmla="val 1353"/>
              <a:gd name="adj2" fmla="val 146154"/>
            </a:avLst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5871D16A-501E-E5D7-FC66-B3B4752CBFCD}"/>
              </a:ext>
            </a:extLst>
          </p:cNvPr>
          <p:cNvCxnSpPr>
            <a:cxnSpLocks/>
            <a:stCxn id="21" idx="2"/>
            <a:endCxn id="22" idx="2"/>
          </p:cNvCxnSpPr>
          <p:nvPr/>
        </p:nvCxnSpPr>
        <p:spPr>
          <a:xfrm rot="5400000" flipH="1">
            <a:off x="10247312" y="3086100"/>
            <a:ext cx="304800" cy="1752600"/>
          </a:xfrm>
          <a:prstGeom prst="curvedConnector3">
            <a:avLst>
              <a:gd name="adj1" fmla="val -75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9CB4078-8300-D329-E57E-80187291B5A3}"/>
              </a:ext>
            </a:extLst>
          </p:cNvPr>
          <p:cNvCxnSpPr>
            <a:cxnSpLocks/>
            <a:stCxn id="22" idx="1"/>
            <a:endCxn id="23" idx="3"/>
          </p:cNvCxnSpPr>
          <p:nvPr/>
        </p:nvCxnSpPr>
        <p:spPr>
          <a:xfrm flipH="1">
            <a:off x="8532812" y="361950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FC55807-6F07-EFCB-0229-3719F9AC9E3F}"/>
              </a:ext>
            </a:extLst>
          </p:cNvPr>
          <p:cNvCxnSpPr>
            <a:cxnSpLocks/>
            <a:stCxn id="23" idx="1"/>
            <a:endCxn id="24" idx="3"/>
          </p:cNvCxnSpPr>
          <p:nvPr/>
        </p:nvCxnSpPr>
        <p:spPr>
          <a:xfrm flipH="1">
            <a:off x="6780212" y="361950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4A54131-883C-B65A-D7A6-A5E3DA414C76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4991935" y="3619500"/>
            <a:ext cx="264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C01782BC-433A-1848-FD31-8DCEC0C24D96}"/>
              </a:ext>
            </a:extLst>
          </p:cNvPr>
          <p:cNvCxnSpPr>
            <a:cxnSpLocks/>
            <a:stCxn id="25" idx="2"/>
            <a:endCxn id="26" idx="1"/>
          </p:cNvCxnSpPr>
          <p:nvPr/>
        </p:nvCxnSpPr>
        <p:spPr>
          <a:xfrm rot="5400000">
            <a:off x="3563185" y="4057650"/>
            <a:ext cx="647700" cy="762000"/>
          </a:xfrm>
          <a:prstGeom prst="curvedConnector4">
            <a:avLst>
              <a:gd name="adj1" fmla="val 35294"/>
              <a:gd name="adj2" fmla="val 13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4C2D8FB4-049A-A313-6CDD-A144DF08EF77}"/>
              </a:ext>
            </a:extLst>
          </p:cNvPr>
          <p:cNvCxnSpPr>
            <a:cxnSpLocks/>
            <a:stCxn id="25" idx="1"/>
            <a:endCxn id="17" idx="2"/>
          </p:cNvCxnSpPr>
          <p:nvPr/>
        </p:nvCxnSpPr>
        <p:spPr>
          <a:xfrm rot="10800000" flipH="1">
            <a:off x="3544134" y="2704620"/>
            <a:ext cx="2626477" cy="914881"/>
          </a:xfrm>
          <a:prstGeom prst="curvedConnector4">
            <a:avLst>
              <a:gd name="adj1" fmla="val -8704"/>
              <a:gd name="adj2" fmla="val 77069"/>
            </a:avLst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58C5D56-97DC-788B-3292-5E4781C9E8FD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5030035" y="4762500"/>
            <a:ext cx="2261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F5B03F4-E9E1-4647-6738-523BE1D592F9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6780212" y="4762500"/>
            <a:ext cx="2261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11EB245-FA52-8C52-90CE-D12F1C3AF4B2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7768389" y="49530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3849A8B9-8C93-A30D-8A0E-EC530D93B7DE}"/>
              </a:ext>
            </a:extLst>
          </p:cNvPr>
          <p:cNvCxnSpPr>
            <a:cxnSpLocks/>
            <a:stCxn id="29" idx="3"/>
            <a:endCxn id="30" idx="0"/>
          </p:cNvCxnSpPr>
          <p:nvPr/>
        </p:nvCxnSpPr>
        <p:spPr>
          <a:xfrm flipV="1">
            <a:off x="8492289" y="5715000"/>
            <a:ext cx="1412123" cy="190500"/>
          </a:xfrm>
          <a:prstGeom prst="curvedConnector4">
            <a:avLst>
              <a:gd name="adj1" fmla="val 23019"/>
              <a:gd name="adj2" fmla="val 380000"/>
            </a:avLst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A962A7BB-790A-7031-37D4-5BB9CF8951A6}"/>
              </a:ext>
            </a:extLst>
          </p:cNvPr>
          <p:cNvCxnSpPr>
            <a:cxnSpLocks/>
            <a:stCxn id="29" idx="1"/>
            <a:endCxn id="14" idx="2"/>
          </p:cNvCxnSpPr>
          <p:nvPr/>
        </p:nvCxnSpPr>
        <p:spPr>
          <a:xfrm rot="10800000">
            <a:off x="1065213" y="2590800"/>
            <a:ext cx="5979277" cy="33147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B7CD3A9-DEBC-DE2B-45D4-A3DBFB3E164A}"/>
              </a:ext>
            </a:extLst>
          </p:cNvPr>
          <p:cNvSpPr txBox="1"/>
          <p:nvPr/>
        </p:nvSpPr>
        <p:spPr>
          <a:xfrm>
            <a:off x="5280192" y="1424756"/>
            <a:ext cx="295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100" dirty="0">
                <a:solidFill>
                  <a:schemeClr val="accent2"/>
                </a:solidFill>
              </a:rPr>
              <a:t>Sí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0F5B5E8-7C68-5E72-0900-172A7EFB1E32}"/>
              </a:ext>
            </a:extLst>
          </p:cNvPr>
          <p:cNvSpPr txBox="1"/>
          <p:nvPr/>
        </p:nvSpPr>
        <p:spPr>
          <a:xfrm>
            <a:off x="10895012" y="4011306"/>
            <a:ext cx="295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100" dirty="0">
                <a:solidFill>
                  <a:schemeClr val="accent2"/>
                </a:solidFill>
              </a:rPr>
              <a:t>Sí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03419CF-3EB0-0733-75B2-F71F51A10B97}"/>
              </a:ext>
            </a:extLst>
          </p:cNvPr>
          <p:cNvSpPr txBox="1"/>
          <p:nvPr/>
        </p:nvSpPr>
        <p:spPr>
          <a:xfrm>
            <a:off x="6780212" y="5679445"/>
            <a:ext cx="295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100" dirty="0">
                <a:solidFill>
                  <a:schemeClr val="accent2"/>
                </a:solidFill>
              </a:rPr>
              <a:t>Sí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736CE0-5D7D-FBFF-EEF6-43E942F5A572}"/>
              </a:ext>
            </a:extLst>
          </p:cNvPr>
          <p:cNvSpPr txBox="1"/>
          <p:nvPr/>
        </p:nvSpPr>
        <p:spPr>
          <a:xfrm>
            <a:off x="3961273" y="4043689"/>
            <a:ext cx="295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100" dirty="0">
                <a:solidFill>
                  <a:schemeClr val="accent2"/>
                </a:solidFill>
              </a:rPr>
              <a:t>Sí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FA361C-8B6F-41D6-5D35-91BAAA6E46BE}"/>
              </a:ext>
            </a:extLst>
          </p:cNvPr>
          <p:cNvSpPr txBox="1"/>
          <p:nvPr/>
        </p:nvSpPr>
        <p:spPr>
          <a:xfrm>
            <a:off x="4391517" y="1739085"/>
            <a:ext cx="357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100" dirty="0">
                <a:solidFill>
                  <a:schemeClr val="accent5"/>
                </a:solidFill>
              </a:rPr>
              <a:t>No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6D5EEEE-5335-D7C0-D8B6-2FE3E710D5D3}"/>
              </a:ext>
            </a:extLst>
          </p:cNvPr>
          <p:cNvSpPr txBox="1"/>
          <p:nvPr/>
        </p:nvSpPr>
        <p:spPr>
          <a:xfrm>
            <a:off x="3322294" y="3352799"/>
            <a:ext cx="357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100" dirty="0">
                <a:solidFill>
                  <a:schemeClr val="accent5"/>
                </a:solidFill>
              </a:rPr>
              <a:t>No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78ACC7C-05BC-D788-E1B6-B82D6F570B5D}"/>
              </a:ext>
            </a:extLst>
          </p:cNvPr>
          <p:cNvSpPr txBox="1"/>
          <p:nvPr/>
        </p:nvSpPr>
        <p:spPr>
          <a:xfrm>
            <a:off x="10423757" y="3292107"/>
            <a:ext cx="357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100" dirty="0">
                <a:solidFill>
                  <a:schemeClr val="accent5"/>
                </a:solidFill>
              </a:rPr>
              <a:t>No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459BB52-C42C-8393-4476-9CF20D75AE4B}"/>
              </a:ext>
            </a:extLst>
          </p:cNvPr>
          <p:cNvSpPr txBox="1"/>
          <p:nvPr/>
        </p:nvSpPr>
        <p:spPr>
          <a:xfrm>
            <a:off x="8405209" y="5608335"/>
            <a:ext cx="357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100" dirty="0">
                <a:solidFill>
                  <a:schemeClr val="accent5"/>
                </a:solidFill>
              </a:rPr>
              <a:t>No</a:t>
            </a:r>
            <a:endParaRPr lang="en-US" sz="11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35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6259D-A3B7-BB37-0B14-AF0F8165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99639F5-66DE-B658-69E6-AAF16AEA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159822"/>
            <a:ext cx="9144001" cy="609600"/>
          </a:xfrm>
        </p:spPr>
        <p:txBody>
          <a:bodyPr/>
          <a:lstStyle/>
          <a:p>
            <a:r>
              <a:rPr lang="es-EC" noProof="0" dirty="0"/>
              <a:t>Diagrama de arquitectura por componentes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6BEB8F-537E-0D4E-4D74-5B6FE63F97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46" y="1905000"/>
            <a:ext cx="12188825" cy="333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2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AFAB-A716-F7AB-24C6-7BB6FE10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5E8E61C-7C1B-5226-648D-6412E7C4D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159822"/>
            <a:ext cx="9144001" cy="609600"/>
          </a:xfrm>
        </p:spPr>
        <p:txBody>
          <a:bodyPr/>
          <a:lstStyle/>
          <a:p>
            <a:r>
              <a:rPr lang="es-EC" noProof="0" dirty="0"/>
              <a:t>Diagrama de arquitectura por capas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2CCDD-D489-8F08-4036-04565B116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673" y="767417"/>
            <a:ext cx="2499477" cy="601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7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94A9D-3F8F-C909-6C79-CD7135091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FF048A8-BDF1-F9E4-5039-1543632D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noProof="0" dirty="0"/>
              <a:t>Conclusiones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B645779-7E04-ACEB-8F53-B4434141B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1905000"/>
            <a:ext cx="11201399" cy="41148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C" dirty="0"/>
              <a:t>El análisis previo reduce errores.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dirty="0"/>
              <a:t>Los diagramas permiten comprender el sistema antes de programarlo.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dirty="0"/>
              <a:t>La arquitectura modular mejora la organización.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dirty="0"/>
              <a:t>El Juego de la Serpiente es adecuado para aplicar fundamentos de programación.</a:t>
            </a:r>
          </a:p>
        </p:txBody>
      </p:sp>
    </p:spTree>
    <p:extLst>
      <p:ext uri="{BB962C8B-B14F-4D97-AF65-F5344CB8AC3E}">
        <p14:creationId xmlns:p14="http://schemas.microsoft.com/office/powerpoint/2010/main" val="19592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38</TotalTime>
  <Words>316</Words>
  <Application>Microsoft Office PowerPoint</Application>
  <PresentationFormat>Custom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Wingdings</vt:lpstr>
      <vt:lpstr>Digital Blue Tunnel 16x9</vt:lpstr>
      <vt:lpstr>Juego de la Serpiente Diseño funcional y arquitectura de software</vt:lpstr>
      <vt:lpstr>Problema seleccionado</vt:lpstr>
      <vt:lpstr>Investigación realizada</vt:lpstr>
      <vt:lpstr>Análisis del problema</vt:lpstr>
      <vt:lpstr>Funcionalidades del sistema</vt:lpstr>
      <vt:lpstr>Diagrama funcional de casos de uso</vt:lpstr>
      <vt:lpstr>Diagrama de flujo funcional</vt:lpstr>
      <vt:lpstr>Diagrama de arquitectura por componentes</vt:lpstr>
      <vt:lpstr>Diagrama de arquitectura por capas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Erick Pries</dc:creator>
  <cp:lastModifiedBy>Erick Pries</cp:lastModifiedBy>
  <cp:revision>2</cp:revision>
  <dcterms:created xsi:type="dcterms:W3CDTF">2026-06-01T03:20:22Z</dcterms:created>
  <dcterms:modified xsi:type="dcterms:W3CDTF">2026-06-01T03:59:02Z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